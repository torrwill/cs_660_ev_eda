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Raleway"/>
      <p:regular r:id="rId24"/>
      <p:bold r:id="rId25"/>
      <p:italic r:id="rId26"/>
      <p:boldItalic r:id="rId27"/>
    </p:embeddedFont>
    <p:embeddedFont>
      <p:font typeface="Lat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Will Torres"/>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Raleway-regular.fntdata"/><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font" Target="fonts/Raleway-italic.fntdata"/><Relationship Id="rId25" Type="http://schemas.openxmlformats.org/officeDocument/2006/relationships/font" Target="fonts/Raleway-bold.fntdata"/><Relationship Id="rId28" Type="http://schemas.openxmlformats.org/officeDocument/2006/relationships/font" Target="fonts/Lato-regular.fntdata"/><Relationship Id="rId27" Type="http://schemas.openxmlformats.org/officeDocument/2006/relationships/font" Target="fonts/Raleway-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Lato-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Lato-boldItalic.fntdata"/><Relationship Id="rId30" Type="http://schemas.openxmlformats.org/officeDocument/2006/relationships/font" Target="fonts/Lato-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4-10-07T22:44:30.880">
    <p:pos x="459" y="1309"/>
    <p:text>SMOTE was chosen to handle the imbalanced data in our dataset because it generates synthetic samples for the minority class rather than simply duplicating existing ones. This approach reduces the risk of overfitting associated with random oversampling and provides more varied examples for the model to learn from, improving its overall performance.
---
Edit to your heart's content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080f04d4cb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080f04d4cb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d3d569f870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d3d569f870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080f04d4cb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080f04d4cb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080f04d4cb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080f04d4cb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080f04d4cb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080f04d4cb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d3d569f870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d3d569f870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d3d569f870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d3d569f870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d3d569f870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d3d569f870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080f04d4cb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080f04d4cb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080f04d4cb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080f04d4cb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080f04d4cb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080f04d4cb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d3d569f870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d3d569f870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080f04d4cb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080f04d4cb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d3d569f870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d3d569f870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d3d569f870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d3d569f870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d3d569f870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d3d569f870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comments" Target="../comments/comment1.xml"/><Relationship Id="rId4" Type="http://schemas.openxmlformats.org/officeDocument/2006/relationships/image" Target="../media/image18.png"/><Relationship Id="rId5"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CS 660 Group #1-Project #1</a:t>
            </a:r>
            <a:endParaRPr/>
          </a:p>
          <a:p>
            <a:pPr indent="0" lvl="0" marL="0" rtl="0" algn="l">
              <a:spcBef>
                <a:spcPts val="0"/>
              </a:spcBef>
              <a:spcAft>
                <a:spcPts val="0"/>
              </a:spcAft>
              <a:buNone/>
            </a:pPr>
            <a:r>
              <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en"/>
              <a:t>Mike Griffin, Watson Blair, Syed Abdul Mubashir, Mohammed Abdul Munaf, </a:t>
            </a:r>
            <a:r>
              <a:rPr lang="en"/>
              <a:t>Will Torres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Overview and Methodology</a:t>
            </a:r>
            <a:endParaRPr/>
          </a:p>
        </p:txBody>
      </p:sp>
      <p:sp>
        <p:nvSpPr>
          <p:cNvPr id="93" name="Google Shape;93;p1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Conducting Exploratory Data Analysis is essential for developing </a:t>
            </a:r>
            <a:r>
              <a:rPr lang="en"/>
              <a:t>hypotheses that can be rigorously tested using Machine Learning Models.</a:t>
            </a:r>
            <a:endParaRPr/>
          </a:p>
          <a:p>
            <a:pPr indent="0" lvl="0" marL="0" rtl="0" algn="l">
              <a:spcBef>
                <a:spcPts val="1200"/>
              </a:spcBef>
              <a:spcAft>
                <a:spcPts val="0"/>
              </a:spcAft>
              <a:buNone/>
            </a:pPr>
            <a:r>
              <a:rPr lang="en"/>
              <a:t>After conferring as a group, we decided to undertake the steps involved in this project independently, and then work as a group to draw concurrent conclusions from our respective outcomes, and use them to put together a project notebook that represented a consensus. This allowed us to run multiple iterations of each step prior to conferring with one another, thereby satisfying step 14 of the project.</a:t>
            </a:r>
            <a:endParaRPr/>
          </a:p>
          <a:p>
            <a:pPr indent="0" lvl="0" marL="0" rtl="0" algn="l">
              <a:spcBef>
                <a:spcPts val="1200"/>
              </a:spcBef>
              <a:spcAft>
                <a:spcPts val="1200"/>
              </a:spcAft>
              <a:buNone/>
            </a:pPr>
            <a:r>
              <a:rPr lang="en"/>
              <a:t>The strategies that we used are presented here, and the attached notebook contains the code that we chose to use after conferring as a group over the course of this week.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Initial Analysis of Raw Data</a:t>
            </a:r>
            <a:endParaRPr/>
          </a:p>
        </p:txBody>
      </p:sp>
      <p:sp>
        <p:nvSpPr>
          <p:cNvPr id="99" name="Google Shape;99;p15"/>
          <p:cNvSpPr txBox="1"/>
          <p:nvPr>
            <p:ph idx="1" type="body"/>
          </p:nvPr>
        </p:nvSpPr>
        <p:spPr>
          <a:xfrm>
            <a:off x="729450" y="2078875"/>
            <a:ext cx="7688700" cy="286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Prior to cleaning and creating features within the data, we were able to </a:t>
            </a:r>
            <a:r>
              <a:rPr lang="en"/>
              <a:t>glean</a:t>
            </a:r>
            <a:r>
              <a:rPr lang="en"/>
              <a:t> some valuable information from the raw DataFrame.</a:t>
            </a:r>
            <a:endParaRPr/>
          </a:p>
          <a:p>
            <a:pPr indent="0" lvl="0" marL="0" rtl="0" algn="l">
              <a:spcBef>
                <a:spcPts val="1200"/>
              </a:spcBef>
              <a:spcAft>
                <a:spcPts val="0"/>
              </a:spcAft>
              <a:buNone/>
            </a:pPr>
            <a:r>
              <a:rPr lang="en"/>
              <a:t>We made the decision to conduct univariate analyses using the raw data, and then conduct our Bivariate and Multivariate analyses after cleaning the data and adding features.</a:t>
            </a:r>
            <a:endParaRPr/>
          </a:p>
          <a:p>
            <a:pPr indent="0" lvl="0" marL="0" rtl="0" algn="l">
              <a:spcBef>
                <a:spcPts val="1200"/>
              </a:spcBef>
              <a:spcAft>
                <a:spcPts val="1200"/>
              </a:spcAft>
              <a:buNone/>
            </a:pPr>
            <a:r>
              <a:rPr lang="en"/>
              <a:t>Pulling from the raw data allowed us to accurately answer questions 1, 6 and 9, since they only required basic counts of occurrences within the data.</a:t>
            </a:r>
            <a:endParaRPr/>
          </a:p>
        </p:txBody>
      </p:sp>
      <p:pic>
        <p:nvPicPr>
          <p:cNvPr id="100" name="Google Shape;100;p15"/>
          <p:cNvPicPr preferRelativeResize="0"/>
          <p:nvPr/>
        </p:nvPicPr>
        <p:blipFill>
          <a:blip r:embed="rId3">
            <a:alphaModFix/>
          </a:blip>
          <a:stretch>
            <a:fillRect/>
          </a:stretch>
        </p:blipFill>
        <p:spPr>
          <a:xfrm>
            <a:off x="2034421" y="3854150"/>
            <a:ext cx="5078754" cy="10936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Question #1</a:t>
            </a:r>
            <a:endParaRPr/>
          </a:p>
        </p:txBody>
      </p:sp>
      <p:sp>
        <p:nvSpPr>
          <p:cNvPr id="106" name="Google Shape;106;p16"/>
          <p:cNvSpPr txBox="1"/>
          <p:nvPr>
            <p:ph idx="1" type="body"/>
          </p:nvPr>
        </p:nvSpPr>
        <p:spPr>
          <a:xfrm>
            <a:off x="0" y="1853850"/>
            <a:ext cx="5774100" cy="1229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In order to ascertain the most common EV manufacturers in the state of Washington, we </a:t>
            </a:r>
            <a:r>
              <a:rPr lang="en"/>
              <a:t>performed</a:t>
            </a:r>
            <a:r>
              <a:rPr lang="en"/>
              <a:t> a univariate analysis on the raw, uncleaned data to determine the total number of EVs of each car brand </a:t>
            </a:r>
            <a:r>
              <a:rPr lang="en"/>
              <a:t>available</a:t>
            </a:r>
            <a:r>
              <a:rPr lang="en"/>
              <a:t> in the state. </a:t>
            </a:r>
            <a:endParaRPr/>
          </a:p>
          <a:p>
            <a:pPr indent="0" lvl="0" marL="0" rtl="0" algn="l">
              <a:spcBef>
                <a:spcPts val="1200"/>
              </a:spcBef>
              <a:spcAft>
                <a:spcPts val="1200"/>
              </a:spcAft>
              <a:buNone/>
            </a:pPr>
            <a:r>
              <a:rPr lang="en"/>
              <a:t>We found that Tesla dominated the market, accounting for 44% of total sales. </a:t>
            </a:r>
            <a:endParaRPr/>
          </a:p>
        </p:txBody>
      </p:sp>
      <p:pic>
        <p:nvPicPr>
          <p:cNvPr id="107" name="Google Shape;107;p16"/>
          <p:cNvPicPr preferRelativeResize="0"/>
          <p:nvPr/>
        </p:nvPicPr>
        <p:blipFill>
          <a:blip r:embed="rId3">
            <a:alphaModFix/>
          </a:blip>
          <a:stretch>
            <a:fillRect/>
          </a:stretch>
        </p:blipFill>
        <p:spPr>
          <a:xfrm>
            <a:off x="5774100" y="756648"/>
            <a:ext cx="3369825" cy="2112499"/>
          </a:xfrm>
          <a:prstGeom prst="rect">
            <a:avLst/>
          </a:prstGeom>
          <a:noFill/>
          <a:ln>
            <a:noFill/>
          </a:ln>
        </p:spPr>
      </p:pic>
      <p:pic>
        <p:nvPicPr>
          <p:cNvPr id="108" name="Google Shape;108;p16"/>
          <p:cNvPicPr preferRelativeResize="0"/>
          <p:nvPr/>
        </p:nvPicPr>
        <p:blipFill>
          <a:blip r:embed="rId4">
            <a:alphaModFix/>
          </a:blip>
          <a:stretch>
            <a:fillRect/>
          </a:stretch>
        </p:blipFill>
        <p:spPr>
          <a:xfrm>
            <a:off x="1171275" y="3146151"/>
            <a:ext cx="6805050" cy="19973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Question #6</a:t>
            </a:r>
            <a:endParaRPr/>
          </a:p>
        </p:txBody>
      </p:sp>
      <p:sp>
        <p:nvSpPr>
          <p:cNvPr id="114" name="Google Shape;114;p17"/>
          <p:cNvSpPr txBox="1"/>
          <p:nvPr>
            <p:ph idx="1" type="body"/>
          </p:nvPr>
        </p:nvSpPr>
        <p:spPr>
          <a:xfrm>
            <a:off x="729450" y="2078875"/>
            <a:ext cx="5014200" cy="14256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In order to ascertain the cities within Washington State that contained the most EVs, we performed a .groupby function on </a:t>
            </a:r>
            <a:r>
              <a:rPr lang="en"/>
              <a:t>the</a:t>
            </a:r>
            <a:r>
              <a:rPr lang="en"/>
              <a:t> raw data, showing the 5 greatest EV populations by city. </a:t>
            </a:r>
            <a:endParaRPr/>
          </a:p>
          <a:p>
            <a:pPr indent="0" lvl="0" marL="0" rtl="0" algn="l">
              <a:spcBef>
                <a:spcPts val="1200"/>
              </a:spcBef>
              <a:spcAft>
                <a:spcPts val="1200"/>
              </a:spcAft>
              <a:buNone/>
            </a:pPr>
            <a:r>
              <a:rPr lang="en"/>
              <a:t>We found that Seattle dwarfed the rest of the </a:t>
            </a:r>
            <a:r>
              <a:rPr lang="en"/>
              <a:t>municipalities</a:t>
            </a:r>
            <a:r>
              <a:rPr lang="en"/>
              <a:t> in Washington in terms of EV </a:t>
            </a:r>
            <a:r>
              <a:rPr lang="en"/>
              <a:t>usage, with a total more than triple that of the second place municipality, Bellevue.</a:t>
            </a:r>
            <a:endParaRPr/>
          </a:p>
        </p:txBody>
      </p:sp>
      <p:pic>
        <p:nvPicPr>
          <p:cNvPr id="115" name="Google Shape;115;p17"/>
          <p:cNvPicPr preferRelativeResize="0"/>
          <p:nvPr/>
        </p:nvPicPr>
        <p:blipFill>
          <a:blip r:embed="rId3">
            <a:alphaModFix/>
          </a:blip>
          <a:stretch>
            <a:fillRect/>
          </a:stretch>
        </p:blipFill>
        <p:spPr>
          <a:xfrm>
            <a:off x="1845037" y="3553851"/>
            <a:ext cx="5457526" cy="1487625"/>
          </a:xfrm>
          <a:prstGeom prst="rect">
            <a:avLst/>
          </a:prstGeom>
          <a:noFill/>
          <a:ln>
            <a:noFill/>
          </a:ln>
        </p:spPr>
      </p:pic>
      <p:pic>
        <p:nvPicPr>
          <p:cNvPr id="116" name="Google Shape;116;p17"/>
          <p:cNvPicPr preferRelativeResize="0"/>
          <p:nvPr/>
        </p:nvPicPr>
        <p:blipFill>
          <a:blip r:embed="rId4">
            <a:alphaModFix/>
          </a:blip>
          <a:stretch>
            <a:fillRect/>
          </a:stretch>
        </p:blipFill>
        <p:spPr>
          <a:xfrm>
            <a:off x="6081495" y="1318650"/>
            <a:ext cx="2824454" cy="20788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Question #9</a:t>
            </a:r>
            <a:endParaRPr/>
          </a:p>
        </p:txBody>
      </p:sp>
      <p:sp>
        <p:nvSpPr>
          <p:cNvPr id="122" name="Google Shape;122;p18"/>
          <p:cNvSpPr txBox="1"/>
          <p:nvPr>
            <p:ph idx="1" type="body"/>
          </p:nvPr>
        </p:nvSpPr>
        <p:spPr>
          <a:xfrm>
            <a:off x="729450" y="2078875"/>
            <a:ext cx="5209200" cy="2706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 order to answer question 9, we </a:t>
            </a:r>
            <a:r>
              <a:rPr lang="en"/>
              <a:t>executed</a:t>
            </a:r>
            <a:r>
              <a:rPr lang="en"/>
              <a:t> the same raw data pull as we had for Question 6, this time applying the .groupby function to counties.</a:t>
            </a:r>
            <a:endParaRPr/>
          </a:p>
          <a:p>
            <a:pPr indent="0" lvl="0" marL="0" rtl="0" algn="l">
              <a:spcBef>
                <a:spcPts val="1200"/>
              </a:spcBef>
              <a:spcAft>
                <a:spcPts val="1200"/>
              </a:spcAft>
              <a:buNone/>
            </a:pPr>
            <a:r>
              <a:rPr lang="en"/>
              <a:t>We found that King County contained the greatest variety of individual EV models, with 148 distinct types.</a:t>
            </a:r>
            <a:endParaRPr/>
          </a:p>
        </p:txBody>
      </p:sp>
      <p:pic>
        <p:nvPicPr>
          <p:cNvPr id="123" name="Google Shape;123;p18"/>
          <p:cNvPicPr preferRelativeResize="0"/>
          <p:nvPr/>
        </p:nvPicPr>
        <p:blipFill>
          <a:blip r:embed="rId3">
            <a:alphaModFix/>
          </a:blip>
          <a:stretch>
            <a:fillRect/>
          </a:stretch>
        </p:blipFill>
        <p:spPr>
          <a:xfrm>
            <a:off x="6149950" y="1318650"/>
            <a:ext cx="2900551" cy="2208259"/>
          </a:xfrm>
          <a:prstGeom prst="rect">
            <a:avLst/>
          </a:prstGeom>
          <a:noFill/>
          <a:ln>
            <a:noFill/>
          </a:ln>
        </p:spPr>
      </p:pic>
      <p:pic>
        <p:nvPicPr>
          <p:cNvPr id="124" name="Google Shape;124;p18"/>
          <p:cNvPicPr preferRelativeResize="0"/>
          <p:nvPr/>
        </p:nvPicPr>
        <p:blipFill>
          <a:blip r:embed="rId4">
            <a:alphaModFix/>
          </a:blip>
          <a:stretch>
            <a:fillRect/>
          </a:stretch>
        </p:blipFill>
        <p:spPr>
          <a:xfrm>
            <a:off x="2219301" y="3775299"/>
            <a:ext cx="4709000" cy="12714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Cleaning Process-Initial Impressions</a:t>
            </a:r>
            <a:endParaRPr/>
          </a:p>
        </p:txBody>
      </p:sp>
      <p:sp>
        <p:nvSpPr>
          <p:cNvPr id="130" name="Google Shape;130;p19"/>
          <p:cNvSpPr txBox="1"/>
          <p:nvPr>
            <p:ph idx="1" type="body"/>
          </p:nvPr>
        </p:nvSpPr>
        <p:spPr>
          <a:xfrm>
            <a:off x="729450" y="2078875"/>
            <a:ext cx="7688700" cy="306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 encountered two distinct challenges as we prepared to clean the .csv file.</a:t>
            </a:r>
            <a:endParaRPr/>
          </a:p>
          <a:p>
            <a:pPr indent="-311150" lvl="0" marL="457200" rtl="0" algn="l">
              <a:spcBef>
                <a:spcPts val="1200"/>
              </a:spcBef>
              <a:spcAft>
                <a:spcPts val="0"/>
              </a:spcAft>
              <a:buSzPts val="1300"/>
              <a:buAutoNum type="arabicPeriod"/>
            </a:pPr>
            <a:r>
              <a:rPr lang="en"/>
              <a:t>We found that our Range and MSRP data was essential for creating connections and drawing conclusions from the dataset as a whole, but found that the vast majority of entries were not NaN entries, but zeroes. This suggested to us that many EV owners did not know their car’s range or MSRP. We did, however, find that there were correct entries for almost all of the car brands, indicating that we could design a feature to provide accurate ranges for almost all cars.</a:t>
            </a:r>
            <a:endParaRPr/>
          </a:p>
          <a:p>
            <a:pPr indent="-311150" lvl="0" marL="457200" rtl="0" algn="l">
              <a:spcBef>
                <a:spcPts val="0"/>
              </a:spcBef>
              <a:spcAft>
                <a:spcPts val="0"/>
              </a:spcAft>
              <a:buSzPts val="1300"/>
              <a:buAutoNum type="arabicPeriod"/>
            </a:pPr>
            <a:r>
              <a:rPr lang="en"/>
              <a:t>We found that there were certain categorical variables in the data, particularly cities, that suffered as a result of ambiguity during the data collection itself. In order to analyze these variables effectively, we were going to need to make changes to their formatting and perhaps turn them into numerical variables.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0"/>
          <p:cNvSpPr txBox="1"/>
          <p:nvPr>
            <p:ph idx="1" type="body"/>
          </p:nvPr>
        </p:nvSpPr>
        <p:spPr>
          <a:xfrm>
            <a:off x="729450" y="2078875"/>
            <a:ext cx="5521500" cy="298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Prior to making any changes to the data, our group member Will Torres did a comprehensive Univariate and Bivariate analysis, which confirmed our initial assumptions; the electric range data was extremely skewed as a result of the missing values (shown top right), and the MRSP data was also heavily skewed.</a:t>
            </a:r>
            <a:endParaRPr/>
          </a:p>
          <a:p>
            <a:pPr indent="0" lvl="0" marL="0" rtl="0" algn="l">
              <a:spcBef>
                <a:spcPts val="1200"/>
              </a:spcBef>
              <a:spcAft>
                <a:spcPts val="1200"/>
              </a:spcAft>
              <a:buNone/>
            </a:pPr>
            <a:r>
              <a:rPr lang="en"/>
              <a:t>Watson Blair </a:t>
            </a:r>
            <a:r>
              <a:rPr lang="en"/>
              <a:t>utilized</a:t>
            </a:r>
            <a:r>
              <a:rPr lang="en"/>
              <a:t> data cleaning </a:t>
            </a:r>
            <a:r>
              <a:rPr lang="en"/>
              <a:t>strategies</a:t>
            </a:r>
            <a:r>
              <a:rPr lang="en"/>
              <a:t> to deduce electric range, MSRP and Zip where possible. We also dropped 4 records pertaining to EVs that are registered in canada, and label encoded utility data.</a:t>
            </a:r>
            <a:endParaRPr/>
          </a:p>
        </p:txBody>
      </p:sp>
      <p:sp>
        <p:nvSpPr>
          <p:cNvPr id="136" name="Google Shape;136;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Cleaning and Analysis</a:t>
            </a:r>
            <a:endParaRPr/>
          </a:p>
        </p:txBody>
      </p:sp>
      <p:pic>
        <p:nvPicPr>
          <p:cNvPr id="137" name="Google Shape;137;p20"/>
          <p:cNvPicPr preferRelativeResize="0"/>
          <p:nvPr/>
        </p:nvPicPr>
        <p:blipFill>
          <a:blip r:embed="rId3">
            <a:alphaModFix/>
          </a:blip>
          <a:stretch>
            <a:fillRect/>
          </a:stretch>
        </p:blipFill>
        <p:spPr>
          <a:xfrm>
            <a:off x="6750925" y="1382425"/>
            <a:ext cx="2393074" cy="1933151"/>
          </a:xfrm>
          <a:prstGeom prst="rect">
            <a:avLst/>
          </a:prstGeom>
          <a:noFill/>
          <a:ln>
            <a:noFill/>
          </a:ln>
        </p:spPr>
      </p:pic>
      <p:pic>
        <p:nvPicPr>
          <p:cNvPr id="138" name="Google Shape;138;p20"/>
          <p:cNvPicPr preferRelativeResize="0"/>
          <p:nvPr/>
        </p:nvPicPr>
        <p:blipFill>
          <a:blip r:embed="rId3">
            <a:alphaModFix/>
          </a:blip>
          <a:stretch>
            <a:fillRect/>
          </a:stretch>
        </p:blipFill>
        <p:spPr>
          <a:xfrm>
            <a:off x="6250950" y="596700"/>
            <a:ext cx="2798576" cy="2260224"/>
          </a:xfrm>
          <a:prstGeom prst="rect">
            <a:avLst/>
          </a:prstGeom>
          <a:noFill/>
          <a:ln>
            <a:noFill/>
          </a:ln>
        </p:spPr>
      </p:pic>
      <p:pic>
        <p:nvPicPr>
          <p:cNvPr id="139" name="Google Shape;139;p20"/>
          <p:cNvPicPr preferRelativeResize="0"/>
          <p:nvPr/>
        </p:nvPicPr>
        <p:blipFill>
          <a:blip r:embed="rId4">
            <a:alphaModFix/>
          </a:blip>
          <a:stretch>
            <a:fillRect/>
          </a:stretch>
        </p:blipFill>
        <p:spPr>
          <a:xfrm>
            <a:off x="6250951" y="2856940"/>
            <a:ext cx="2798575" cy="213718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Feature Engineering</a:t>
            </a:r>
            <a:endParaRPr/>
          </a:p>
        </p:txBody>
      </p:sp>
      <p:sp>
        <p:nvSpPr>
          <p:cNvPr id="145" name="Google Shape;145;p21"/>
          <p:cNvSpPr txBox="1"/>
          <p:nvPr>
            <p:ph idx="1" type="body"/>
          </p:nvPr>
        </p:nvSpPr>
        <p:spPr>
          <a:xfrm>
            <a:off x="729450" y="2078875"/>
            <a:ext cx="7688700" cy="29013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In preparation for </a:t>
            </a:r>
            <a:r>
              <a:rPr lang="en"/>
              <a:t>future</a:t>
            </a:r>
            <a:r>
              <a:rPr lang="en"/>
              <a:t> applications of the cleaned data, we created features that could be used in </a:t>
            </a:r>
            <a:r>
              <a:rPr lang="en"/>
              <a:t>future</a:t>
            </a:r>
            <a:r>
              <a:rPr lang="en"/>
              <a:t> analysis experiments.</a:t>
            </a:r>
            <a:endParaRPr/>
          </a:p>
          <a:p>
            <a:pPr indent="0" lvl="0" marL="0" rtl="0" algn="l">
              <a:spcBef>
                <a:spcPts val="1200"/>
              </a:spcBef>
              <a:spcAft>
                <a:spcPts val="0"/>
              </a:spcAft>
              <a:buNone/>
            </a:pPr>
            <a:r>
              <a:rPr lang="en"/>
              <a:t>Our features included:</a:t>
            </a:r>
            <a:endParaRPr/>
          </a:p>
          <a:p>
            <a:pPr indent="0" lvl="0" marL="0" rtl="0" algn="l">
              <a:spcBef>
                <a:spcPts val="1200"/>
              </a:spcBef>
              <a:spcAft>
                <a:spcPts val="0"/>
              </a:spcAft>
              <a:buNone/>
            </a:pPr>
            <a:r>
              <a:rPr lang="en"/>
              <a:t>-Performing a label encode on the utilities column to </a:t>
            </a:r>
            <a:r>
              <a:rPr lang="en"/>
              <a:t>facilitate</a:t>
            </a:r>
            <a:r>
              <a:rPr lang="en"/>
              <a:t> an </a:t>
            </a:r>
            <a:r>
              <a:rPr lang="en"/>
              <a:t>analysis</a:t>
            </a:r>
            <a:r>
              <a:rPr lang="en"/>
              <a:t> of different EV’s draw on the grid. </a:t>
            </a:r>
            <a:endParaRPr/>
          </a:p>
          <a:p>
            <a:pPr indent="0" lvl="0" marL="0" rtl="0" algn="l">
              <a:spcBef>
                <a:spcPts val="1200"/>
              </a:spcBef>
              <a:spcAft>
                <a:spcPts val="0"/>
              </a:spcAft>
              <a:buNone/>
            </a:pPr>
            <a:r>
              <a:rPr lang="en"/>
              <a:t>-Running analysis to determine the average age of the EV fleets of each car manufacturer on the road in Washington State.</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It is notable that a lack of </a:t>
            </a:r>
            <a:r>
              <a:rPr lang="en"/>
              <a:t>historical</a:t>
            </a:r>
            <a:r>
              <a:rPr lang="en"/>
              <a:t> data precluded us from creating features that could measure sales over time, since some EVs may have been taken off the road prior to 2024. </a:t>
            </a:r>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Questions 2, 3 and 4</a:t>
            </a:r>
            <a:endParaRPr/>
          </a:p>
        </p:txBody>
      </p:sp>
      <p:sp>
        <p:nvSpPr>
          <p:cNvPr id="151" name="Google Shape;151;p22"/>
          <p:cNvSpPr txBox="1"/>
          <p:nvPr>
            <p:ph idx="1" type="body"/>
          </p:nvPr>
        </p:nvSpPr>
        <p:spPr>
          <a:xfrm>
            <a:off x="729450" y="2078875"/>
            <a:ext cx="4584900" cy="22611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a:t>After completing our data clean, were we able to run an Interquartile Range function on the Electric Range column to determine the answers to questions 2, 3 and 4.</a:t>
            </a:r>
            <a:endParaRPr/>
          </a:p>
          <a:p>
            <a:pPr indent="0" lvl="0" marL="0" rtl="0" algn="l">
              <a:spcBef>
                <a:spcPts val="1200"/>
              </a:spcBef>
              <a:spcAft>
                <a:spcPts val="0"/>
              </a:spcAft>
              <a:buNone/>
            </a:pPr>
            <a:r>
              <a:rPr lang="en"/>
              <a:t>We determined that the highest electric range in our data set was 337 miles, belonging to the Tesla Model S, while the  lowest </a:t>
            </a:r>
            <a:r>
              <a:rPr lang="en"/>
              <a:t>electric</a:t>
            </a:r>
            <a:r>
              <a:rPr lang="en"/>
              <a:t> range belonged to the Toyota Prius Plug-In Hybrid. </a:t>
            </a:r>
            <a:endParaRPr/>
          </a:p>
          <a:p>
            <a:pPr indent="0" lvl="0" marL="0" rtl="0" algn="l">
              <a:spcBef>
                <a:spcPts val="1200"/>
              </a:spcBef>
              <a:spcAft>
                <a:spcPts val="1200"/>
              </a:spcAft>
              <a:buNone/>
            </a:pPr>
            <a:r>
              <a:rPr lang="en"/>
              <a:t>These ranges were unique to those car models; </a:t>
            </a:r>
            <a:r>
              <a:rPr lang="en"/>
              <a:t>those</a:t>
            </a:r>
            <a:r>
              <a:rPr lang="en"/>
              <a:t> ranges are not shared with any other make or model of car in the State of Washington. </a:t>
            </a:r>
            <a:endParaRPr/>
          </a:p>
        </p:txBody>
      </p:sp>
      <p:pic>
        <p:nvPicPr>
          <p:cNvPr id="152" name="Google Shape;152;p22"/>
          <p:cNvPicPr preferRelativeResize="0"/>
          <p:nvPr/>
        </p:nvPicPr>
        <p:blipFill>
          <a:blip r:embed="rId3">
            <a:alphaModFix/>
          </a:blip>
          <a:stretch>
            <a:fillRect/>
          </a:stretch>
        </p:blipFill>
        <p:spPr>
          <a:xfrm>
            <a:off x="5314339" y="2078875"/>
            <a:ext cx="3621021" cy="22611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Question #5</a:t>
            </a:r>
            <a:endParaRPr/>
          </a:p>
        </p:txBody>
      </p:sp>
      <p:sp>
        <p:nvSpPr>
          <p:cNvPr id="158" name="Google Shape;158;p23"/>
          <p:cNvSpPr txBox="1"/>
          <p:nvPr>
            <p:ph idx="1" type="body"/>
          </p:nvPr>
        </p:nvSpPr>
        <p:spPr>
          <a:xfrm>
            <a:off x="729450" y="2078875"/>
            <a:ext cx="4737900" cy="306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During the course of our data cleaning, we found that there were 38,272 cars individual car records, comprised of ___  make and model combinations, for which there existed no electric </a:t>
            </a:r>
            <a:r>
              <a:rPr lang="en"/>
              <a:t>range information available within the data.</a:t>
            </a:r>
            <a:endParaRPr/>
          </a:p>
          <a:p>
            <a:pPr indent="0" lvl="0" marL="0" rtl="0" algn="l">
              <a:spcBef>
                <a:spcPts val="1200"/>
              </a:spcBef>
              <a:spcAft>
                <a:spcPts val="0"/>
              </a:spcAft>
              <a:buNone/>
            </a:pPr>
            <a:r>
              <a:rPr lang="en"/>
              <a:t>With that caveat, we found that Tesla consistently outperformed the market, with an average range of more than 261 miles. </a:t>
            </a:r>
            <a:endParaRPr/>
          </a:p>
          <a:p>
            <a:pPr indent="0" lvl="0" marL="0" rtl="0" algn="l">
              <a:spcBef>
                <a:spcPts val="1200"/>
              </a:spcBef>
              <a:spcAft>
                <a:spcPts val="1200"/>
              </a:spcAft>
              <a:buNone/>
            </a:pPr>
            <a:r>
              <a:rPr lang="en"/>
              <a:t>We also found that Chevrolet featured the greatest variance between their minimum and maximum ranges. </a:t>
            </a:r>
            <a:endParaRPr/>
          </a:p>
        </p:txBody>
      </p:sp>
      <p:pic>
        <p:nvPicPr>
          <p:cNvPr id="159" name="Google Shape;159;p23"/>
          <p:cNvPicPr preferRelativeResize="0"/>
          <p:nvPr/>
        </p:nvPicPr>
        <p:blipFill>
          <a:blip r:embed="rId3">
            <a:alphaModFix/>
          </a:blip>
          <a:stretch>
            <a:fillRect/>
          </a:stretch>
        </p:blipFill>
        <p:spPr>
          <a:xfrm>
            <a:off x="5372414" y="601876"/>
            <a:ext cx="3530565" cy="2034149"/>
          </a:xfrm>
          <a:prstGeom prst="rect">
            <a:avLst/>
          </a:prstGeom>
          <a:noFill/>
          <a:ln>
            <a:noFill/>
          </a:ln>
        </p:spPr>
      </p:pic>
      <p:pic>
        <p:nvPicPr>
          <p:cNvPr id="160" name="Google Shape;160;p23"/>
          <p:cNvPicPr preferRelativeResize="0"/>
          <p:nvPr/>
        </p:nvPicPr>
        <p:blipFill>
          <a:blip r:embed="rId4">
            <a:alphaModFix/>
          </a:blip>
          <a:stretch>
            <a:fillRect/>
          </a:stretch>
        </p:blipFill>
        <p:spPr>
          <a:xfrm>
            <a:off x="5467350" y="2636025"/>
            <a:ext cx="3435626" cy="23245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Question #7</a:t>
            </a:r>
            <a:endParaRPr/>
          </a:p>
        </p:txBody>
      </p:sp>
      <p:sp>
        <p:nvSpPr>
          <p:cNvPr id="166" name="Google Shape;166;p24"/>
          <p:cNvSpPr txBox="1"/>
          <p:nvPr>
            <p:ph idx="1" type="body"/>
          </p:nvPr>
        </p:nvSpPr>
        <p:spPr>
          <a:xfrm>
            <a:off x="729450" y="1788775"/>
            <a:ext cx="7688700" cy="2261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Our interpretation is:</a:t>
            </a:r>
            <a:endParaRPr/>
          </a:p>
          <a:p>
            <a:pPr indent="0" lvl="0" marL="0" rtl="0" algn="l">
              <a:spcBef>
                <a:spcPts val="1200"/>
              </a:spcBef>
              <a:spcAft>
                <a:spcPts val="0"/>
              </a:spcAft>
              <a:buNone/>
            </a:pPr>
            <a:r>
              <a:rPr lang="en"/>
              <a:t>Adoption = number of models per company, not number of cars sold</a:t>
            </a:r>
            <a:endParaRPr/>
          </a:p>
          <a:p>
            <a:pPr indent="0" lvl="0" marL="0" rtl="0" algn="l">
              <a:spcBef>
                <a:spcPts val="1200"/>
              </a:spcBef>
              <a:spcAft>
                <a:spcPts val="0"/>
              </a:spcAft>
              <a:buNone/>
            </a:pPr>
            <a:r>
              <a:rPr lang="en"/>
              <a:t>A </a:t>
            </a:r>
            <a:r>
              <a:rPr lang="en"/>
              <a:t>company</a:t>
            </a:r>
            <a:r>
              <a:rPr lang="en"/>
              <a:t> can increase production to meet demand, but is not investing dollars into adoption without a variety of models </a:t>
            </a:r>
            <a:r>
              <a:rPr lang="en"/>
              <a:t>available</a:t>
            </a:r>
            <a:r>
              <a:rPr lang="en"/>
              <a:t>. </a:t>
            </a:r>
            <a:endParaRPr/>
          </a:p>
          <a:p>
            <a:pPr indent="0" lvl="0" marL="0" rtl="0" algn="l">
              <a:spcBef>
                <a:spcPts val="1200"/>
              </a:spcBef>
              <a:spcAft>
                <a:spcPts val="1200"/>
              </a:spcAft>
              <a:buNone/>
            </a:pPr>
            <a:r>
              <a:rPr lang="en"/>
              <a:t>With that interpretation in mind, we used a heat map to visualize the number of EV models that car makers were producing year-by-year, and found that while car makers tended to introduce a variety of models at the outset of their EV journey, they tended to pare down their offerings, with no car maker offering </a:t>
            </a:r>
            <a:r>
              <a:rPr lang="en"/>
              <a:t>more</a:t>
            </a:r>
            <a:r>
              <a:rPr lang="en"/>
              <a:t> than 3 car models in 2024. </a:t>
            </a:r>
            <a:endParaRPr/>
          </a:p>
        </p:txBody>
      </p:sp>
      <p:pic>
        <p:nvPicPr>
          <p:cNvPr id="167" name="Google Shape;167;p24"/>
          <p:cNvPicPr preferRelativeResize="0"/>
          <p:nvPr/>
        </p:nvPicPr>
        <p:blipFill>
          <a:blip r:embed="rId3">
            <a:alphaModFix/>
          </a:blip>
          <a:stretch>
            <a:fillRect/>
          </a:stretch>
        </p:blipFill>
        <p:spPr>
          <a:xfrm>
            <a:off x="6588501" y="0"/>
            <a:ext cx="2555501" cy="1950125"/>
          </a:xfrm>
          <a:prstGeom prst="rect">
            <a:avLst/>
          </a:prstGeom>
          <a:noFill/>
          <a:ln>
            <a:noFill/>
          </a:ln>
        </p:spPr>
      </p:pic>
      <p:pic>
        <p:nvPicPr>
          <p:cNvPr id="168" name="Google Shape;168;p24"/>
          <p:cNvPicPr preferRelativeResize="0"/>
          <p:nvPr/>
        </p:nvPicPr>
        <p:blipFill>
          <a:blip r:embed="rId4">
            <a:alphaModFix/>
          </a:blip>
          <a:stretch>
            <a:fillRect/>
          </a:stretch>
        </p:blipFill>
        <p:spPr>
          <a:xfrm>
            <a:off x="1619025" y="3981852"/>
            <a:ext cx="5909540" cy="10936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Balance and Assumption Testing</a:t>
            </a:r>
            <a:endParaRPr/>
          </a:p>
        </p:txBody>
      </p:sp>
      <p:sp>
        <p:nvSpPr>
          <p:cNvPr id="174" name="Google Shape;174;p25"/>
          <p:cNvSpPr txBox="1"/>
          <p:nvPr>
            <p:ph idx="1" type="body"/>
          </p:nvPr>
        </p:nvSpPr>
        <p:spPr>
          <a:xfrm>
            <a:off x="729450" y="2078875"/>
            <a:ext cx="4353900" cy="24807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We conducted </a:t>
            </a:r>
            <a:r>
              <a:rPr lang="en"/>
              <a:t>SMOTE</a:t>
            </a:r>
            <a:r>
              <a:rPr lang="en"/>
              <a:t>, VIF, KS and Shapiro-Wilk analyses, all of which confirmed that the numerical variables within the data did not follow a normal distribution. </a:t>
            </a:r>
            <a:endParaRPr/>
          </a:p>
          <a:p>
            <a:pPr indent="0" lvl="0" marL="0" rtl="0" algn="l">
              <a:spcBef>
                <a:spcPts val="1200"/>
              </a:spcBef>
              <a:spcAft>
                <a:spcPts val="0"/>
              </a:spcAft>
              <a:buNone/>
            </a:pPr>
            <a:r>
              <a:rPr lang="en"/>
              <a:t>We chose to use KS testing because Shapiro-Wilk tests are only suitable for tests on datasets with a sample size fewer than 50 values. KS tests are more </a:t>
            </a:r>
            <a:r>
              <a:rPr lang="en"/>
              <a:t>suitable</a:t>
            </a:r>
            <a:r>
              <a:rPr lang="en"/>
              <a:t> for larger datasets. </a:t>
            </a:r>
            <a:endParaRPr/>
          </a:p>
          <a:p>
            <a:pPr indent="0" lvl="0" marL="0" rtl="0" algn="l">
              <a:spcBef>
                <a:spcPts val="1200"/>
              </a:spcBef>
              <a:spcAft>
                <a:spcPts val="0"/>
              </a:spcAft>
              <a:buNone/>
            </a:pPr>
            <a:r>
              <a:rPr lang="en"/>
              <a:t>Our </a:t>
            </a:r>
            <a:r>
              <a:rPr lang="en"/>
              <a:t>next</a:t>
            </a:r>
            <a:r>
              <a:rPr lang="en"/>
              <a:t> step would be to perform log transformations on the numerical </a:t>
            </a:r>
            <a:r>
              <a:rPr lang="en"/>
              <a:t>variables</a:t>
            </a:r>
            <a:r>
              <a:rPr lang="en"/>
              <a:t> to </a:t>
            </a:r>
            <a:r>
              <a:rPr lang="en"/>
              <a:t>rectify</a:t>
            </a:r>
            <a:r>
              <a:rPr lang="en"/>
              <a:t> this issue before </a:t>
            </a:r>
            <a:r>
              <a:rPr lang="en"/>
              <a:t>performing</a:t>
            </a:r>
            <a:r>
              <a:rPr lang="en"/>
              <a:t> any additional </a:t>
            </a:r>
            <a:r>
              <a:rPr lang="en"/>
              <a:t>analysis.</a:t>
            </a:r>
            <a:endParaRPr/>
          </a:p>
          <a:p>
            <a:pPr indent="0" lvl="0" marL="0" rtl="0" algn="l">
              <a:spcBef>
                <a:spcPts val="1200"/>
              </a:spcBef>
              <a:spcAft>
                <a:spcPts val="1200"/>
              </a:spcAft>
              <a:buNone/>
            </a:pPr>
            <a:r>
              <a:t/>
            </a:r>
            <a:endParaRPr/>
          </a:p>
        </p:txBody>
      </p:sp>
      <p:pic>
        <p:nvPicPr>
          <p:cNvPr id="175" name="Google Shape;175;p25"/>
          <p:cNvPicPr preferRelativeResize="0"/>
          <p:nvPr/>
        </p:nvPicPr>
        <p:blipFill>
          <a:blip r:embed="rId4">
            <a:alphaModFix/>
          </a:blip>
          <a:stretch>
            <a:fillRect/>
          </a:stretch>
        </p:blipFill>
        <p:spPr>
          <a:xfrm>
            <a:off x="6374712" y="799151"/>
            <a:ext cx="2490525" cy="1674601"/>
          </a:xfrm>
          <a:prstGeom prst="rect">
            <a:avLst/>
          </a:prstGeom>
          <a:noFill/>
          <a:ln>
            <a:noFill/>
          </a:ln>
        </p:spPr>
      </p:pic>
      <p:pic>
        <p:nvPicPr>
          <p:cNvPr id="176" name="Google Shape;176;p25"/>
          <p:cNvPicPr preferRelativeResize="0"/>
          <p:nvPr/>
        </p:nvPicPr>
        <p:blipFill>
          <a:blip r:embed="rId5">
            <a:alphaModFix/>
          </a:blip>
          <a:stretch>
            <a:fillRect/>
          </a:stretch>
        </p:blipFill>
        <p:spPr>
          <a:xfrm>
            <a:off x="5791151" y="2662825"/>
            <a:ext cx="3352851" cy="24806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Question #8</a:t>
            </a:r>
            <a:endParaRPr/>
          </a:p>
        </p:txBody>
      </p:sp>
      <p:sp>
        <p:nvSpPr>
          <p:cNvPr id="182" name="Google Shape;182;p2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After running a label encoding program to convert the municipalities in Washington from categorical variables to numeric variables, we were able to run a correlation analysis and confirm that there was a very slight negative  correlation between the city in which an EV resides, and the range of that EV.</a:t>
            </a:r>
            <a:endParaRPr/>
          </a:p>
        </p:txBody>
      </p:sp>
      <p:pic>
        <p:nvPicPr>
          <p:cNvPr id="183" name="Google Shape;183;p26"/>
          <p:cNvPicPr preferRelativeResize="0"/>
          <p:nvPr/>
        </p:nvPicPr>
        <p:blipFill>
          <a:blip r:embed="rId3">
            <a:alphaModFix/>
          </a:blip>
          <a:stretch>
            <a:fillRect/>
          </a:stretch>
        </p:blipFill>
        <p:spPr>
          <a:xfrm>
            <a:off x="674326" y="3093726"/>
            <a:ext cx="7798950" cy="1939250"/>
          </a:xfrm>
          <a:prstGeom prst="rect">
            <a:avLst/>
          </a:prstGeom>
          <a:noFill/>
          <a:ln>
            <a:noFill/>
          </a:ln>
        </p:spPr>
      </p:pic>
      <p:pic>
        <p:nvPicPr>
          <p:cNvPr id="184" name="Google Shape;184;p26"/>
          <p:cNvPicPr preferRelativeResize="0"/>
          <p:nvPr/>
        </p:nvPicPr>
        <p:blipFill>
          <a:blip r:embed="rId4">
            <a:alphaModFix/>
          </a:blip>
          <a:stretch>
            <a:fillRect/>
          </a:stretch>
        </p:blipFill>
        <p:spPr>
          <a:xfrm>
            <a:off x="6891697" y="0"/>
            <a:ext cx="2252301" cy="167622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Findings </a:t>
            </a:r>
            <a:endParaRPr/>
          </a:p>
        </p:txBody>
      </p:sp>
      <p:sp>
        <p:nvSpPr>
          <p:cNvPr id="190" name="Google Shape;190;p27"/>
          <p:cNvSpPr txBox="1"/>
          <p:nvPr>
            <p:ph idx="1" type="body"/>
          </p:nvPr>
        </p:nvSpPr>
        <p:spPr>
          <a:xfrm>
            <a:off x="729450" y="2078875"/>
            <a:ext cx="7688700" cy="29553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As we worked to complete this project, we walked away with a few distinct impressions of the data, which might be applied to future analysis or applications of our work.. </a:t>
            </a:r>
            <a:endParaRPr/>
          </a:p>
          <a:p>
            <a:pPr indent="-311150" lvl="0" marL="457200" rtl="0" algn="l">
              <a:spcBef>
                <a:spcPts val="1200"/>
              </a:spcBef>
              <a:spcAft>
                <a:spcPts val="0"/>
              </a:spcAft>
              <a:buSzPts val="1300"/>
              <a:buAutoNum type="arabicPeriod"/>
            </a:pPr>
            <a:r>
              <a:rPr lang="en"/>
              <a:t>There are flaws in the compilation of the data </a:t>
            </a:r>
            <a:r>
              <a:rPr lang="en"/>
              <a:t>that</a:t>
            </a:r>
            <a:r>
              <a:rPr lang="en"/>
              <a:t> might make it </a:t>
            </a:r>
            <a:r>
              <a:rPr lang="en"/>
              <a:t>difficult</a:t>
            </a:r>
            <a:r>
              <a:rPr lang="en"/>
              <a:t> to draw meaningful conclusion about the adoption of EVs by the state’s population, specifically with regards to the location data of the EVs.</a:t>
            </a:r>
            <a:endParaRPr/>
          </a:p>
          <a:p>
            <a:pPr indent="-311150" lvl="0" marL="457200" rtl="0" algn="l">
              <a:spcBef>
                <a:spcPts val="0"/>
              </a:spcBef>
              <a:spcAft>
                <a:spcPts val="0"/>
              </a:spcAft>
              <a:buSzPts val="1300"/>
              <a:buAutoNum type="arabicPeriod"/>
            </a:pPr>
            <a:r>
              <a:rPr lang="en"/>
              <a:t>Tesla dominates the market, both in number of cars on the road and in overall Electric Range performance, which suggests that Electric Range is a significant driver of sales.</a:t>
            </a:r>
            <a:endParaRPr/>
          </a:p>
          <a:p>
            <a:pPr indent="-311150" lvl="0" marL="457200" rtl="0" algn="l">
              <a:spcBef>
                <a:spcPts val="0"/>
              </a:spcBef>
              <a:spcAft>
                <a:spcPts val="0"/>
              </a:spcAft>
              <a:buSzPts val="1300"/>
              <a:buAutoNum type="arabicPeriod"/>
            </a:pPr>
            <a:r>
              <a:rPr lang="en"/>
              <a:t>Despite the significance of Electric Range as a </a:t>
            </a:r>
            <a:r>
              <a:rPr lang="en"/>
              <a:t>factor</a:t>
            </a:r>
            <a:r>
              <a:rPr lang="en"/>
              <a:t> in determining the efficiency and cost-effectiveness of electric </a:t>
            </a:r>
            <a:r>
              <a:rPr lang="en"/>
              <a:t>vehicles</a:t>
            </a:r>
            <a:r>
              <a:rPr lang="en"/>
              <a:t>,  and that same cost-effectiveness  as a primary driver of sales, the majority of EV owners either do not know the range or MSRP of their vehicle.</a:t>
            </a:r>
            <a:endParaRPr/>
          </a:p>
          <a:p>
            <a:pPr indent="-311150" lvl="0" marL="457200" rtl="0" algn="l">
              <a:spcBef>
                <a:spcPts val="0"/>
              </a:spcBef>
              <a:spcAft>
                <a:spcPts val="0"/>
              </a:spcAft>
              <a:buSzPts val="1300"/>
              <a:buAutoNum type="arabicPeriod"/>
            </a:pPr>
            <a:r>
              <a:rPr lang="en"/>
              <a:t>EVs are favored by urban residents, although the role that range plays in their purchasing decision is negligible at best.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Hypotheses for Future Testing</a:t>
            </a:r>
            <a:endParaRPr/>
          </a:p>
        </p:txBody>
      </p:sp>
      <p:sp>
        <p:nvSpPr>
          <p:cNvPr id="196" name="Google Shape;196;p2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 the event that we were to </a:t>
            </a:r>
            <a:r>
              <a:rPr lang="en"/>
              <a:t>continue to use this data for further analysis, we would work to develop experiments that would test the following hypotheses:</a:t>
            </a:r>
            <a:endParaRPr/>
          </a:p>
          <a:p>
            <a:pPr indent="-311150" lvl="0" marL="457200" rtl="0" algn="l">
              <a:spcBef>
                <a:spcPts val="1200"/>
              </a:spcBef>
              <a:spcAft>
                <a:spcPts val="0"/>
              </a:spcAft>
              <a:buSzPts val="1300"/>
              <a:buAutoNum type="arabicPeriod"/>
            </a:pPr>
            <a:r>
              <a:rPr lang="en"/>
              <a:t>There is a correlation between the average range of the models  a car manufacturer produces and the number of models they produce.</a:t>
            </a:r>
            <a:endParaRPr/>
          </a:p>
          <a:p>
            <a:pPr indent="-311150" lvl="0" marL="457200" rtl="0" algn="l">
              <a:spcBef>
                <a:spcPts val="0"/>
              </a:spcBef>
              <a:spcAft>
                <a:spcPts val="0"/>
              </a:spcAft>
              <a:buSzPts val="1300"/>
              <a:buAutoNum type="arabicPeriod"/>
            </a:pPr>
            <a:r>
              <a:rPr lang="en"/>
              <a:t>The ranges of electric vehicles become greater as time goes on.</a:t>
            </a:r>
            <a:endParaRPr/>
          </a:p>
          <a:p>
            <a:pPr indent="-311150" lvl="0" marL="457200" rtl="0" algn="l">
              <a:spcBef>
                <a:spcPts val="0"/>
              </a:spcBef>
              <a:spcAft>
                <a:spcPts val="0"/>
              </a:spcAft>
              <a:buSzPts val="1300"/>
              <a:buAutoNum type="arabicPeriod"/>
            </a:pPr>
            <a:r>
              <a:rPr lang="en"/>
              <a:t>For particular geographical location, how many cars are sold.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Further Analysis and Next Steps</a:t>
            </a:r>
            <a:endParaRPr/>
          </a:p>
        </p:txBody>
      </p:sp>
      <p:sp>
        <p:nvSpPr>
          <p:cNvPr id="202" name="Google Shape;202;p2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Before we can </a:t>
            </a:r>
            <a:r>
              <a:rPr lang="en"/>
              <a:t>implement</a:t>
            </a:r>
            <a:r>
              <a:rPr lang="en"/>
              <a:t> any other types of analysis, we need to employ log transformations to make sure that the data is normalized.</a:t>
            </a:r>
            <a:endParaRPr/>
          </a:p>
          <a:p>
            <a:pPr indent="0" lvl="0" marL="0" rtl="0" algn="l">
              <a:spcBef>
                <a:spcPts val="1200"/>
              </a:spcBef>
              <a:spcAft>
                <a:spcPts val="1200"/>
              </a:spcAft>
              <a:buNone/>
            </a:pPr>
            <a:r>
              <a:rPr lang="en"/>
              <a:t>At that point, we can employ our features and make decisions about which learning models </a:t>
            </a:r>
            <a:r>
              <a:rPr lang="en"/>
              <a:t>fit our needs best.</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